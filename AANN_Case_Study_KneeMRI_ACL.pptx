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237744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  <a:latin typeface="Segoe UI"/>
              </a:defRPr>
            </a:pPr>
            <a:r>
              <a:t>AANN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Deep Learning for Anterior Cruciate Ligament (ACL)</a:t>
            </a:r>
            <a:br/>
            <a:r>
              <a:t>Tear Diagnosis in Volumetric Knee MRI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t>A Dual-Stream Context Fusion &amp; 2.5D Key-Slice Architecture on the Complete Zenodo KneeMRI Benchmark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548640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600"/>
              </a:spcAft>
            </a:pPr>
            <a:r>
              <a:rPr b="1" sz="1300">
                <a:solidFill>
                  <a:srgbClr val="0D9488"/>
                </a:solidFill>
                <a:latin typeface="Segoe UI"/>
              </a:rPr>
              <a:t>Student Name  :  </a:t>
            </a:r>
            <a:r>
              <a:rPr b="1" sz="1300">
                <a:solidFill>
                  <a:srgbClr val="F1F5F9"/>
                </a:solidFill>
                <a:latin typeface="Segoe UI"/>
              </a:rPr>
              <a:t>Bheemini Venkat Rohith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D9488"/>
                </a:solidFill>
                <a:latin typeface="Segoe UI"/>
              </a:rPr>
              <a:t>Roll Number   :  </a:t>
            </a:r>
            <a:r>
              <a:rPr b="1" sz="1300">
                <a:solidFill>
                  <a:srgbClr val="F1F5F9"/>
                </a:solidFill>
                <a:latin typeface="Segoe UI"/>
              </a:rPr>
              <a:t>160124771029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D9488"/>
                </a:solidFill>
                <a:latin typeface="Segoe UI"/>
              </a:rPr>
              <a:t>Class &amp; Sem   :  </a:t>
            </a:r>
            <a:r>
              <a:rPr b="1" sz="1300">
                <a:solidFill>
                  <a:srgbClr val="F1F5F9"/>
                </a:solidFill>
                <a:latin typeface="Segoe UI"/>
              </a:rPr>
              <a:t>AI&amp;DS-1, 5th Semester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D9488"/>
                </a:solidFill>
                <a:latin typeface="Segoe UI"/>
              </a:rPr>
              <a:t>Course / Unit :  </a:t>
            </a:r>
            <a:r>
              <a:rPr b="1" sz="1300">
                <a:solidFill>
                  <a:srgbClr val="F1F5F9"/>
                </a:solidFill>
                <a:latin typeface="Segoe UI"/>
              </a:rPr>
              <a:t>Artificial &amp; Advanced Neural Networks (AANN)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840480"/>
            <a:ext cx="457200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b="1" sz="1200">
                <a:solidFill>
                  <a:srgbClr val="2563EB"/>
                </a:solidFill>
                <a:latin typeface="Segoe UI"/>
              </a:defRPr>
            </a:pPr>
            <a:r>
              <a:t>CORE CASE STUDY HIGHLIGHTS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-  Dataset: 917 Volumetric Proton-Density MRI Exams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-  Clinical Formulation: Acute ACL Triage (Intact vs. Tear)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-  Architecture: Dual-Stream Focal + Context ResNet-18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-  Performance: 88.49% Test Acc | 96.19% Specificity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-  Explainability: Dual-Stream Grad-CAM &amp; Auto-Report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AANN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Clinical Background &amp; Problem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AANN Case Study  |  Bheemini Venkat Rohith (160124771029)  |  AI&amp;DS-1, 5th Sem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337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0F172A"/>
                </a:solidFill>
              </a:defRPr>
            </a:pPr>
            <a:r>
              <a:t>1. Clinical Significance of ACL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Major Stabilizer: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The Anterior Cruciate Ligament (ACL) prevents anterior tibial translation and rotatory instability.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Epidemiology: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Over 200,000 ACL ruptures occur annually, predominantly during sudden pivot-shift deceleration in sports.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Emergency Triage: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Rapid, automated MRI classification is crucial to prioritize acute hemarthrosis cases for urgent orthopedic consultation.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Surgical Consequence: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Missed tears lead to chronic knee instability, meniscus damage, and early post-traumatic osteoarthritis.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3337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0F172A"/>
                </a:solidFill>
              </a:defRPr>
            </a:pPr>
            <a:r>
              <a:t>2. Diagnostic Challenges in MRI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Subtle Fiber Lesions: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Partial tears show subtle intra-substance signal elevation without gross fiber displacement.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High Inter-Observer Error: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Radiologists have ~60% concordance separating Grade 1 partial tears from Grade 2 ruptures.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- 3D Oblique Trajectory: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The ACL courses diagonally across coronal, sagittal, and axial planes, making 2D slice inspection tricky.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Secondary Clues Required: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True diagnosis often depends on indirect signs (joint effusion, bone bruises) beyond the ligament itself.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17320"/>
            <a:ext cx="3337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0F172A"/>
                </a:solidFill>
              </a:defRPr>
            </a:pPr>
            <a:r>
              <a:t>3. Engineering Objectives</a:t>
            </a:r>
          </a:p>
          <a:p>
            <a:pPr>
              <a:spcAft>
                <a:spcPts val="200"/>
              </a:spcAft>
              <a:defRPr b="1" sz="1100">
                <a:solidFill>
                  <a:srgbClr val="E11D48"/>
                </a:solidFill>
              </a:defRPr>
            </a:pPr>
            <a:r>
              <a:t>- Target High Accuracy: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Achieve &gt;88-90% accuracy on held-out test data while maintaining strict zero patient leakage.</a:t>
            </a:r>
          </a:p>
          <a:p>
            <a:pPr>
              <a:spcAft>
                <a:spcPts val="200"/>
              </a:spcAft>
              <a:defRPr b="1" sz="1100">
                <a:solidFill>
                  <a:srgbClr val="E11D48"/>
                </a:solidFill>
              </a:defRPr>
            </a:pPr>
            <a:r>
              <a:t>- Ultra-High Specificity: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Target &gt;95% specificity on healthy knees to eliminate false alarms and unnecessary emergency surgeries.</a:t>
            </a:r>
          </a:p>
          <a:p>
            <a:pPr>
              <a:spcAft>
                <a:spcPts val="200"/>
              </a:spcAft>
              <a:defRPr b="1" sz="1100">
                <a:solidFill>
                  <a:srgbClr val="E11D48"/>
                </a:solidFill>
              </a:defRPr>
            </a:pPr>
            <a:r>
              <a:t>- Syllabus &amp; Standard Tools: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Rely on standard PyTorch convolutional foundations without obscure external frameworks.</a:t>
            </a:r>
          </a:p>
          <a:p>
            <a:pPr>
              <a:spcAft>
                <a:spcPts val="200"/>
              </a:spcAft>
              <a:defRPr b="1" sz="1100">
                <a:solidFill>
                  <a:srgbClr val="E11D48"/>
                </a:solidFill>
              </a:defRPr>
            </a:pPr>
            <a:r>
              <a:t>- Explainable AI (XAI):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Equip the model with Grad-CAM and automated radiological reports for orthopedic transparency.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AANN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Case Study Dataset: Zenodo KneeMRI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AANN Case Study  |  Bheemini Venkat Rohith (160124771029)  |  AI&amp;DS-1, 5th Sem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0F172A"/>
                </a:solidFill>
              </a:defRPr>
            </a:pPr>
            <a:r>
              <a:t>Dataset Specifications &amp; Acquisition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Origin &amp; Citation: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Published by Štajduhar et al. (2017) at Clinical Hospital Centre Rijeka, Croatia. Hosted publicly on Zenodo.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Total Examinations: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917 3D sagittal volumetric knee MRI exams acquired across 909 unique patients.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Scanner Protocol: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1.5 Tesla Siemens Magnetom Avanto scanner using Proton-Density (PD) weighted turbo spin-echo sequences with fat saturation.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Volumetric Dimensions: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Variable slice depth per volume (typically 24 to 36 slices, median 31), in-plane resolution ~320x320 with 0.5–0.6 mm pixel spacing.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Storage Format: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Serialized NumPy 3D arrays (.pck pickle files) paired with a structured clinical metadata table (metadata.csv).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3035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0F172A"/>
                </a:solidFill>
              </a:defRPr>
            </a:pPr>
            <a:r>
              <a:t>Diagnostic Classes &amp; Extreme Imbalance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16A34A"/>
                </a:solidFill>
              </a:rPr>
              <a:t>Grade 0: Intact / Healthy  </a:t>
            </a:r>
            <a:r>
              <a:rPr b="1" sz="1100">
                <a:solidFill>
                  <a:srgbClr val="0F172A"/>
                </a:solidFill>
              </a:rPr>
              <a:t>(690 volumes  |  75.24%)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</a:defRPr>
            </a:pPr>
            <a:r>
              <a:t>Continuous dark hypointense ligament fibers without edema.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D97706"/>
                </a:solidFill>
              </a:rPr>
              <a:t>Grade 1: Partial Tear  </a:t>
            </a:r>
            <a:r>
              <a:rPr b="1" sz="1100">
                <a:solidFill>
                  <a:srgbClr val="0F172A"/>
                </a:solidFill>
              </a:rPr>
              <a:t>(172 volumes  |  18.76%)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</a:defRPr>
            </a:pPr>
            <a:r>
              <a:t>Increased intra-substance T2 signal, focal thinning or fiber laxity.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E11D48"/>
                </a:solidFill>
              </a:rPr>
              <a:t>Grade 2: Complete Rupture  </a:t>
            </a:r>
            <a:r>
              <a:rPr b="1" sz="1100">
                <a:solidFill>
                  <a:srgbClr val="0F172A"/>
                </a:solidFill>
              </a:rPr>
              <a:t>(55 volumes  |  6.00%)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</a:defRPr>
            </a:pPr>
            <a:r>
              <a:t>Complete fiber discontinuity, wavy fluid-filled gap, non-visualization.</a:t>
            </a:r>
          </a:p>
          <a:p>
            <a:r>
              <a:rPr b="1" sz="1100">
                <a:solidFill>
                  <a:srgbClr val="E11D48"/>
                </a:solidFill>
              </a:rPr>
              <a:t>CRITICAL MACHINE LEARNING CHALLENGE: </a:t>
            </a:r>
            <a:r>
              <a:rPr sz="1050">
                <a:solidFill>
                  <a:srgbClr val="0F172A"/>
                </a:solidFill>
              </a:rPr>
              <a:t>The 3:1 healthy-to-tear imbalance causes standard Cross-Entropy models to collapse into predicting 'Healthy' 100% of the time, falsely achieving 75% accuracy while completely missing all surgical ruptures.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AANN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Dataset Geometry: The '3-Slice Reality' &amp; Patient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AANN Case Study  |  Bheemini Venkat Rohith (160124771029)  |  AI&amp;DS-1, 5th Sem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4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0F172A"/>
                </a:solidFill>
              </a:defRPr>
            </a:pPr>
            <a:r>
              <a:t>The '3-Slice Reality' in Sagittal Knee MRI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 Physical Ligament Thickness: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In standard sagittal knee MRI, the ACL is anatomically restricted to strictly 3 to 4 contiguous slices.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 Empirical Dataset Proof: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Statistical analysis of the radiologist bounding box roiDepth across all 917 volumes yields a mean of 3.36 slices and a median of 3 slices.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 The '88% Noise' Dilemma: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In an average 32-slice scan, ~28 slices (88%) contain only femoral cortex, subcutaneous adipose fat, patella, and zero ligament tissue.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 Mathematical Consequence: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Feeding full 32-slice volumes or 16-slice samples injects massive non-informative spatial noise, diluting backpropagation gradients and causing severe overfitting.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3035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0F172A"/>
                </a:solidFill>
              </a:defRPr>
            </a:pPr>
            <a:r>
              <a:t>Spatial Annotations &amp; Zero-Leakage Split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3D Radiologist Bounding Box: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Each scan contains expert coordinates: [roiX, roiY, roiZ, roiWidth, roiHeight, roiDepth], pinpointing the exact 3D spatial region of the ligament.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Lesion Center Calculation: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The anatomical center slice is calculated via cz = roiZ + roiDepth // 2, guaranteeing exact centering on the primary lesion.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Patient-Level Stratification: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8 duplicate examinations were identified. Splitting by raw slice or raw file causes massive patient leakage (same patient in train and test).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Zero Patient Leakage Protocol: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Our partitioning strictly isolates patient examId (70% Train: 642, 15% Val: 136, 15% Test: 139) with ZERO patient overlap across splits.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AANN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Clinical Problem Formulation: Emergency Triage vs Multi-Class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AANN Case Study  |  Bheemini Venkat Rohith (160124771029)  |  AI&amp;DS-1, 5th Sem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5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E11D48"/>
                </a:solidFill>
              </a:defRPr>
            </a:pPr>
            <a:r>
              <a:t>The Multi-Class Dilemma (0 vs 1 vs 2)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The 'Subjectivity Trap':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Fellowship-trained radiologists exhibit only ~60% concordance when differentiating Grade 1 (partial) from Grade 2 (complete) ruptures.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Overlapping Signal Characteristics: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Both grades present with joint fluid hyperintensity, fiber distortion, and localized hematoma, blurring algorithmic decision boundaries.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Artificially Capped Accuracy: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Training models solely on a strict 3-way multi-class loss forces the network to memorize noisy subjective boundaries, artificially capping accuracy at ~80-84%.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Class 2 Starvation: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Grade 2 contains only 55 samples across the entire 917-scan dataset (6%), leading to severe underfitting for the complete tear class.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3035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0D9488"/>
                </a:solidFill>
              </a:defRPr>
            </a:pPr>
            <a:r>
              <a:t>Standard Clinical Triage Formulation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Literature Standard: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In landmark orthopedic AI benchmarks (Štajduhar et al. 2017, Stanford MRNet Bien et al. 2018, Awan et al. 2021), clinical evaluation is formulated as ACL Tear Detection (Intact vs. Tear).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Clinical Emergency Triage: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In emergency orthopedic departments, the vital question is binary: Is the ACL torn (requiring urgent orthopedic review) or intact (safe for discharge)?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Dual-Tier Architectural Solution: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Tier 1: Primary Triage Classifier (Intact [0] vs Tear [1+2]) -&gt; Target &gt;90% Accuracy &amp; &gt;0.92 ROC-AUC.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Tier 2: Severity Grading: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Tier 2: Secondary Severity Classifier (Partial Tear [1] vs Complete Rupture [2]) applied downstream once a tear is flagged.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AANN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Architectural Autopsy: Why All Other Approaches Failed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AANN Case Study  |  Bheemini Venkat Rohith (160124771029)  |  AI&amp;DS-1, 5th Sem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6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5146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spcAft>
                <a:spcPts val="400"/>
              </a:spcAft>
              <a:defRPr b="1" sz="1300">
                <a:solidFill>
                  <a:srgbClr val="E11D48"/>
                </a:solidFill>
              </a:defRPr>
            </a:pPr>
            <a:r>
              <a:t>Approach A: Single 2D Slice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Accuracy: ~78 - 80%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Concept: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Extract only the center slice cz and pass through standard 2D CNN.</a:t>
            </a:r>
          </a:p>
          <a:p>
            <a:pPr>
              <a:defRPr b="1" sz="1050">
                <a:solidFill>
                  <a:srgbClr val="E11D48"/>
                </a:solidFill>
              </a:defRPr>
            </a:pPr>
            <a:r>
              <a:t>Fatal Flaw: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Why it Failed: Completely discards 3D continuity. Ligament tears that start or terminate 1 slice away are entirely invisible, causing massive false negatives.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417320"/>
            <a:ext cx="25146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spcAft>
                <a:spcPts val="400"/>
              </a:spcAft>
              <a:defRPr b="1" sz="1300">
                <a:solidFill>
                  <a:srgbClr val="D97706"/>
                </a:solidFill>
              </a:defRPr>
            </a:pPr>
            <a:r>
              <a:t>Approach B: Full 3D ResNet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Accuracy: ~72 - 76%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Concept: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Pass all 32 slices through 3D convolutional kernels (Conv3d).</a:t>
            </a:r>
          </a:p>
          <a:p>
            <a:pPr>
              <a:defRPr b="1" sz="1050">
                <a:solidFill>
                  <a:srgbClr val="E11D48"/>
                </a:solidFill>
              </a:defRPr>
            </a:pPr>
            <a:r>
              <a:t>Fatal Flaw: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Why it Failed: Parameter explosion (&gt;33M params). ~88% of slices contain non-ACL fat/bone noise. With only 642 training volumes, the 3D CNN severely overfit.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17320"/>
            <a:ext cx="25146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spcAft>
                <a:spcPts val="400"/>
              </a:spcAft>
              <a:defRPr b="1" sz="1300">
                <a:solidFill>
                  <a:srgbClr val="475569"/>
                </a:solidFill>
              </a:defRPr>
            </a:pPr>
            <a:r>
              <a:t>Approach C: Multi-Slice RNN / MIL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Accuracy: ~81 - 83%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Concept: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Pass 7-12 slices through 2D CNN, aggregate via LSTM or Attention.</a:t>
            </a:r>
          </a:p>
          <a:p>
            <a:pPr>
              <a:defRPr b="1" sz="1050">
                <a:solidFill>
                  <a:srgbClr val="E11D48"/>
                </a:solidFill>
              </a:defRPr>
            </a:pPr>
            <a:r>
              <a:t>Fatal Flaw: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Why it Failed: Unguided attention mechanisms drifted toward high-contrast cortical bone margins rather than subtle intra-ligament T2 signal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417320"/>
            <a:ext cx="25146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spcAft>
                <a:spcPts val="400"/>
              </a:spcAft>
              <a:defRPr b="1" sz="1300">
                <a:solidFill>
                  <a:srgbClr val="2563EB"/>
                </a:solidFill>
              </a:defRPr>
            </a:pPr>
            <a:r>
              <a:t>Approach D: Tight-Crop Triplet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Accuracy: ~84.17%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Concept: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Extract [cz-1, cz, cz+1] tightly cropped around the ACL box only.</a:t>
            </a:r>
          </a:p>
          <a:p>
            <a:pPr>
              <a:defRPr b="1" sz="1050">
                <a:solidFill>
                  <a:srgbClr val="E11D48"/>
                </a:solidFill>
              </a:defRPr>
            </a:pPr>
            <a:r>
              <a:t>Fatal Flaw: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Why it Failed: Captures direct ligament fibers but blinds the network to secondary indirect signs (suprapatellar joint effusion and lateral bone contusions).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AANN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Radiologist's Domain Logic: Primary vs Secondary Signs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AANN Case Study  |  Bheemini Venkat Rohith (160124771029)  |  AI&amp;DS-1, 5th Sem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7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0D9488"/>
                </a:solidFill>
              </a:defRPr>
            </a:pPr>
            <a:r>
              <a:t>PRIMARY DIRECT SIGNS (Focal Ligament)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Fiber Discontinuity: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Complete interruption of the continuous hypointense (dark) band connecting tibia to femur.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Abnormal Ligament Trajectory: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Altered coronal/sagittal angle relative to Blumensaat's intercondylar line (ligament appears horizontal or wavy).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Intra-Substance Hyperintensity: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Bright T2 signal within the ligament substance indicating acute interstitial edema, partial tearing, or hemorrhage.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Non-Visualization / Empty Notch: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Fluid filling the intercondylar notch where a robust taut ligament should normally reside.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3035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2563EB"/>
                </a:solidFill>
              </a:defRPr>
            </a:pPr>
            <a:r>
              <a:t>SECONDARY INDIRECT SIGNS (Wide Joint Context)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Joint Effusion / Hemarthrosis: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Abnormal accumulation of synovial fluid and blood distending the suprapatellar recess and retro-patellar space.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Bone Marrow Contusions ('Kissing Bruises'):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Subchondral bone edema on the lateral femoral condyle and posterior lateral tibial plateau caused by violent pivot-shift bone collision.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Anterior Tibial Translation: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Forward displacement of the tibia &gt;5 mm relative to the femoral condyles due to loss of the primary anterior stabilizer.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The 'Aha' Clinical Realization: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Radiologists never look solely at the ligament! In subtle partial tears, joint effusion and bone bruises are the deciding clinical clues that trigger the diagnosis.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AANN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Our Chosen Approach: Dual-Stream Context Fusion 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AANN Case Study  |  Bheemini Venkat Rohith (160124771029)  |  AI&amp;DS-1, 5th Sem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8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72865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spcAft>
                <a:spcPts val="600"/>
              </a:spcAft>
              <a:defRPr b="1" sz="1400">
                <a:solidFill>
                  <a:srgbClr val="0D9488"/>
                </a:solidFill>
              </a:defRPr>
            </a:pPr>
            <a:r>
              <a:t>ARCHITECTURAL BLUEPRINT &amp; STREAM DECOMPOSITION</a:t>
            </a:r>
          </a:p>
          <a:p>
            <a:pPr>
              <a:spcAft>
                <a:spcPts val="300"/>
              </a:spcAft>
              <a:defRPr b="1" sz="1100">
                <a:solidFill>
                  <a:srgbClr val="0F172A"/>
                </a:solidFill>
              </a:defRPr>
            </a:pPr>
            <a:r>
              <a:t>-  Stream A: Focal ACL Stream: </a:t>
            </a:r>
            <a:r>
              <a:rPr b="0" sz="1050">
                <a:solidFill>
                  <a:srgbClr val="475569"/>
                </a:solidFill>
              </a:rPr>
              <a:t>Extracts contiguous slices [cz-1, cz, cz+1] cropped with a tight 20% margin around the radiologist bounding box, resized to 224x224. Maximizes pixel resolution on micro-structural fiber disruption.</a:t>
            </a:r>
          </a:p>
          <a:p>
            <a:pPr>
              <a:spcAft>
                <a:spcPts val="300"/>
              </a:spcAft>
              <a:defRPr b="1" sz="1100">
                <a:solidFill>
                  <a:srgbClr val="0F172A"/>
                </a:solidFill>
              </a:defRPr>
            </a:pPr>
            <a:r>
              <a:t>-  Stream B: Wide Joint Context Stream: </a:t>
            </a:r>
            <a:r>
              <a:rPr b="0" sz="1050">
                <a:solidFill>
                  <a:srgbClr val="475569"/>
                </a:solidFill>
              </a:rPr>
              <a:t>Extracts the exact same 3 contiguous slices across a wide 224x224 whole-joint field-of-view centered on the knee axis. Captures suprapatellar effusion and pivot-shift bone bruises.</a:t>
            </a:r>
          </a:p>
          <a:p>
            <a:pPr>
              <a:spcAft>
                <a:spcPts val="300"/>
              </a:spcAft>
              <a:defRPr b="1" sz="1100">
                <a:solidFill>
                  <a:srgbClr val="0F172A"/>
                </a:solidFill>
              </a:defRPr>
            </a:pPr>
            <a:r>
              <a:t>-  Backbone Feature Extraction: </a:t>
            </a:r>
            <a:r>
              <a:rPr b="0" sz="1050">
                <a:solidFill>
                  <a:srgbClr val="475569"/>
                </a:solidFill>
              </a:rPr>
              <a:t>Both streams are processed in parallel through a deep ResNet-18 backbone via batch concatenation (shape 2*B, 3, 224, 224), outputting two 512-dimensional feature embeddings.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03320"/>
            <a:ext cx="52120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spcAft>
                <a:spcPts val="600"/>
              </a:spcAft>
              <a:defRPr b="1" sz="1400">
                <a:solidFill>
                  <a:srgbClr val="2563EB"/>
                </a:solidFill>
              </a:defRPr>
            </a:pPr>
            <a:r>
              <a:t>Multi-Scale Feature Fusion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Feature Concatenation: </a:t>
            </a:r>
            <a:r>
              <a:rPr b="0" sz="1000">
                <a:solidFill>
                  <a:srgbClr val="475569"/>
                </a:solidFill>
              </a:rPr>
              <a:t>Concatenates focal (512-d) and context (512-d) vectors: z_fused = [f_focal || f_context] in R^1024.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Non-Linear Fusion Head: </a:t>
            </a:r>
            <a:r>
              <a:rPr b="0" sz="1000">
                <a:solidFill>
                  <a:srgbClr val="475569"/>
                </a:solidFill>
              </a:rPr>
              <a:t>Passes z_fused through Dropout(0.3) -&gt; Linear(1024, 256) -&gt; BatchNorm1d(256) -&gt; ReLU -&gt; Dropout(0.2) -&gt; Linear(256, 2).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Cross-Scale Synthesis: </a:t>
            </a:r>
            <a:r>
              <a:rPr b="0" sz="1000">
                <a:solidFill>
                  <a:srgbClr val="475569"/>
                </a:solidFill>
              </a:rPr>
              <a:t>Forces high-level classification decisions to simultaneously verify both ligament fiber disruption AND joint-level traumatic effusion.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03320"/>
            <a:ext cx="5242255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spcAft>
                <a:spcPts val="600"/>
              </a:spcAft>
              <a:defRPr b="1" sz="1400">
                <a:solidFill>
                  <a:srgbClr val="0F172A"/>
                </a:solidFill>
              </a:defRPr>
            </a:pPr>
            <a:r>
              <a:t>Mathematical Formulation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Input Slices: </a:t>
            </a:r>
            <a:r>
              <a:rPr b="0" sz="1000">
                <a:solidFill>
                  <a:srgbClr val="475569"/>
                </a:solidFill>
              </a:rPr>
              <a:t>I_focal, I_context in R^(3 x 224 x 224) where channels represent [cz-1, cz, cz+1].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Backbone Mapping: </a:t>
            </a:r>
            <a:r>
              <a:rPr b="0" sz="1000">
                <a:solidFill>
                  <a:srgbClr val="475569"/>
                </a:solidFill>
              </a:rPr>
              <a:t>f_focal = Phi_ResNet(I_focal), f_context = Phi_ResNet(I_context) in R^512.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Joint Logits: </a:t>
            </a:r>
            <a:r>
              <a:rPr b="0" sz="1000">
                <a:solidFill>
                  <a:srgbClr val="475569"/>
                </a:solidFill>
              </a:rPr>
              <a:t>logits = Head([f_focal || f_context]) in R^2.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Tear Probability: </a:t>
            </a:r>
            <a:r>
              <a:rPr b="0" sz="1000">
                <a:solidFill>
                  <a:srgbClr val="475569"/>
                </a:solidFill>
              </a:rPr>
              <a:t>P(Tear) = exp(logits_1) / (exp(logits_0) + exp(logits_1)).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Calibrated Decision: </a:t>
            </a:r>
            <a:r>
              <a:rPr b="0" sz="1000">
                <a:solidFill>
                  <a:srgbClr val="475569"/>
                </a:solidFill>
              </a:rPr>
              <a:t>y_hat = 1 if P(Tear) &gt;= T* else 0  (where T* = 0.50).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AANN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Core Engineering Terms &amp; Deep Learning Mechanics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AANN Case Study  |  Bheemini Venkat Rohith (160124771029)  |  AI&amp;DS-1, 5th Sem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9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75504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400"/>
              </a:spcAft>
              <a:defRPr b="1" sz="1300">
                <a:solidFill>
                  <a:srgbClr val="0D9488"/>
                </a:solidFill>
              </a:defRPr>
            </a:pPr>
            <a:r>
              <a:t>1. 2.5D Key-Slice Triplet Stacking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- Definition: Mapping contiguous 3D slices [cz-1, cz, cz+1] directly into the 3 channels (R, G, B) of standard 2D convolutions.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- Clinical Rationale: Enables 7x7 Conv kernels in ResNet to learn cross-slice depth continuity and volumetric fiber gradients without the parameter bloat and memory explosion of 3D CNNs.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270" y="1417320"/>
            <a:ext cx="5175504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400"/>
              </a:spcAft>
              <a:defRPr b="1" sz="1300">
                <a:solidFill>
                  <a:srgbClr val="2563EB"/>
                </a:solidFill>
              </a:defRPr>
            </a:pPr>
            <a:r>
              <a:t>2. Deep Fine-Tuning Strategy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- Selective Freezing: Conv1 and Layer1 remain frozen to preserve generalized edge/texture filters learned from ImageNet.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- Deep Adaptation: Layers 2, 3, and 4 are unfrozen with differential learning rate (6e-5), adapting mid- and high-level representations to MRI proton-density tissue contrast.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75504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400"/>
              </a:spcAft>
              <a:defRPr b="1" sz="1300">
                <a:solidFill>
                  <a:srgbClr val="E11D48"/>
                </a:solidFill>
              </a:defRPr>
            </a:pPr>
            <a:r>
              <a:t>3. WeightedRandomSampler (Imbalance Compensation)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- Dynamic Reciprocal Weighting: Assigns sample weight w_i = 1 / N_class(y_i) so that positive and negative examples have equal probability of selection.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- Result: Every training batch has an exact 50/50 balance between healthy and tear examinations, completely eliminating majority class bias without artificial oversampling artifacts.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3931920"/>
            <a:ext cx="5175504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4. Label Smoothing Cross-Entropy (eps = 0.03)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- Formulation: Converts hard targets [1, 0] to soft targets [1 - eps/2, eps/2], penalizing overconfident predictions on borderline cases.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- Clinical Importance: In medical MRI, partial tears have inherently ambiguous tissue boundaries. Label smoothing prevents the model from over-calibrating on radiologist subjectivity.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AANN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Training Engine, Hyperparameters &amp; Optimization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AANN Case Study  |  Bheemini Venkat Rohith (160124771029)  |  AI&amp;DS-1, 5th Sem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10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0F172A"/>
                </a:solidFill>
              </a:defRPr>
            </a:pPr>
            <a:r>
              <a:t>Hyperparameter Specifications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563EB"/>
                </a:solidFill>
              </a:rPr>
              <a:t>Base Backbone     : </a:t>
            </a:r>
            <a:r>
              <a:rPr sz="1050">
                <a:solidFill>
                  <a:srgbClr val="0F172A"/>
                </a:solidFill>
              </a:rPr>
              <a:t>Pure PyTorch ResNet-18 (ImageNet Pretrained)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563EB"/>
                </a:solidFill>
              </a:rPr>
              <a:t>Input Dimensions  : </a:t>
            </a:r>
            <a:r>
              <a:rPr sz="1050">
                <a:solidFill>
                  <a:srgbClr val="0F172A"/>
                </a:solidFill>
              </a:rPr>
              <a:t>Two Streams of (3, 224, 224) Tensors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563EB"/>
                </a:solidFill>
              </a:rPr>
              <a:t>Batch Size        : </a:t>
            </a:r>
            <a:r>
              <a:rPr sz="1050">
                <a:solidFill>
                  <a:srgbClr val="0F172A"/>
                </a:solidFill>
              </a:rPr>
              <a:t>32 Volumes per Batch (Balanced Sampling)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563EB"/>
                </a:solidFill>
              </a:rPr>
              <a:t>Optimizer         : </a:t>
            </a:r>
            <a:r>
              <a:rPr sz="1050">
                <a:solidFill>
                  <a:srgbClr val="0F172A"/>
                </a:solidFill>
              </a:rPr>
              <a:t>AdamW with Decoupled Weight Decay (1e-4)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563EB"/>
                </a:solidFill>
              </a:rPr>
              <a:t>Backbone LR       : </a:t>
            </a:r>
            <a:r>
              <a:rPr sz="1050">
                <a:solidFill>
                  <a:srgbClr val="0F172A"/>
                </a:solidFill>
              </a:rPr>
              <a:t>6e-5 (Preserves Pretrained Feature Hierarchy)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563EB"/>
                </a:solidFill>
              </a:rPr>
              <a:t>Fusion Head LR    : </a:t>
            </a:r>
            <a:r>
              <a:rPr sz="1050">
                <a:solidFill>
                  <a:srgbClr val="0F172A"/>
                </a:solidFill>
              </a:rPr>
              <a:t>6e-4 (Rapid Convergence on Task Specifics)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563EB"/>
                </a:solidFill>
              </a:rPr>
              <a:t>LR Scheduler      : </a:t>
            </a:r>
            <a:r>
              <a:rPr sz="1050">
                <a:solidFill>
                  <a:srgbClr val="0F172A"/>
                </a:solidFill>
              </a:rPr>
              <a:t>CosineAnnealingLR (T_max = 15, eta_min = 1e-6)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563EB"/>
                </a:solidFill>
              </a:rPr>
              <a:t>Loss Function     : </a:t>
            </a:r>
            <a:r>
              <a:rPr sz="1050">
                <a:solidFill>
                  <a:srgbClr val="0F172A"/>
                </a:solidFill>
              </a:rPr>
              <a:t>CrossEntropyLoss with 0.03 Label Smoothing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563EB"/>
                </a:solidFill>
              </a:rPr>
              <a:t>Hardware Engine   : </a:t>
            </a:r>
            <a:r>
              <a:rPr sz="1050">
                <a:solidFill>
                  <a:srgbClr val="0F172A"/>
                </a:solidFill>
              </a:rPr>
              <a:t>NVIDIA RTX 4050 GPU + PyTorch AMP (Mixed Precision)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3035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0F172A"/>
                </a:solidFill>
              </a:defRPr>
            </a:pPr>
            <a:r>
              <a:t>Training Progression &amp; Validation Convergence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Epoch 1 - 3: Warmup: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Loss dropped from 0.5630 to 0.1956. Validation AUC immediately surged to 0.8956 as fusion head learned joint representations.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Epoch 4 - 8: Convergence: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Validation AUC crossed 0.9247 with Validation Accuracy reaching 89.0%. Balanced sampling prevented gradient starvation.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Epoch 10: Peak Score: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Validation Accuracy peaked at 90.44% with Validation AUC of 0.9247. Optimal checkpoint saved automatically to checkpoints/best_dual_stream_resnet.pt.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GPU Speed &amp; Efficiency: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Entire 15-epoch training run on 642 patient volumes completed in under 2.5 minutes on NVIDIA GeForce RTX 4050 Laptop GPU.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Validation Threshold Calibration: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Decision threshold scanned across [0.20, 0.80] on validation set to find the optimal trade-off point (T* = 0.50).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AANN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Experimental Results: Final Held-Out Test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AANN Case Study  |  Bheemini Venkat Rohith (160124771029)  |  AI&amp;DS-1, 5th Sem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11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5146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>
              <a:defRPr b="1" sz="2400">
                <a:solidFill>
                  <a:srgbClr val="16A34A"/>
                </a:solidFill>
              </a:defRPr>
            </a:pPr>
            <a:r>
              <a:t>88.49%</a:t>
            </a:r>
          </a:p>
          <a:p>
            <a:pPr algn="ctr">
              <a:defRPr b="1" sz="1000">
                <a:solidFill>
                  <a:srgbClr val="0F172A"/>
                </a:solidFill>
              </a:defRPr>
            </a:pPr>
            <a:r>
              <a:t>TEST ACCURACY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123 / 139 Patients Correct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417320"/>
            <a:ext cx="25146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>
              <a:defRPr b="1" sz="2400">
                <a:solidFill>
                  <a:srgbClr val="2563EB"/>
                </a:solidFill>
              </a:defRPr>
            </a:pPr>
            <a:r>
              <a:t>96.19%</a:t>
            </a:r>
          </a:p>
          <a:p>
            <a:pPr algn="ctr">
              <a:defRPr b="1" sz="1000">
                <a:solidFill>
                  <a:srgbClr val="0F172A"/>
                </a:solidFill>
              </a:defRPr>
            </a:pPr>
            <a:r>
              <a:t>SPECIFICITY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101 / 105 Healthy Intact 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17320"/>
            <a:ext cx="25146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>
              <a:defRPr b="1" sz="2400">
                <a:solidFill>
                  <a:srgbClr val="0D9488"/>
                </a:solidFill>
              </a:defRPr>
            </a:pPr>
            <a:r>
              <a:t>100.0%</a:t>
            </a:r>
          </a:p>
          <a:p>
            <a:pPr algn="ctr">
              <a:defRPr b="1" sz="1000">
                <a:solidFill>
                  <a:srgbClr val="0F172A"/>
                </a:solidFill>
              </a:defRPr>
            </a:pPr>
            <a:r>
              <a:t>COMPLETE TEARS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0 Complete Ruptures Missed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417320"/>
            <a:ext cx="25146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>
              <a:defRPr b="1" sz="2400">
                <a:solidFill>
                  <a:srgbClr val="0F172A"/>
                </a:solidFill>
              </a:defRPr>
            </a:pPr>
            <a:r>
              <a:t>0.8289</a:t>
            </a:r>
          </a:p>
          <a:p>
            <a:pPr algn="ctr">
              <a:defRPr b="1" sz="1000">
                <a:solidFill>
                  <a:srgbClr val="0F172A"/>
                </a:solidFill>
              </a:defRPr>
            </a:pPr>
            <a:r>
              <a:t>TEST ROC-AUC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Strong Discrimination Across All Cuts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512064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spcAft>
                <a:spcPts val="800"/>
              </a:spcAft>
              <a:defRPr b="1" sz="1400">
                <a:solidFill>
                  <a:srgbClr val="0F172A"/>
                </a:solidFill>
              </a:defRPr>
            </a:pPr>
            <a:r>
              <a:t>Held-Out Test Confusion Matrix (N = 139)</a:t>
            </a:r>
          </a:p>
          <a:p>
            <a:pPr>
              <a:spcAft>
                <a:spcPts val="300"/>
              </a:spcAft>
              <a:defRPr b="1" sz="1050">
                <a:solidFill>
                  <a:srgbClr val="0D9488"/>
                </a:solidFill>
              </a:defRPr>
            </a:pPr>
            <a:r>
              <a:t>-  True Negatives (TN = 101): </a:t>
            </a:r>
            <a:r>
              <a:rPr b="0" sz="1000">
                <a:solidFill>
                  <a:srgbClr val="0F172A"/>
                </a:solidFill>
              </a:rPr>
              <a:t>101 out of 105 healthy knees correctly identified. Clinically vital to prevent unnecessary surgical arthroscopies.</a:t>
            </a:r>
          </a:p>
          <a:p>
            <a:pPr>
              <a:spcAft>
                <a:spcPts val="300"/>
              </a:spcAft>
              <a:defRPr b="1" sz="1050">
                <a:solidFill>
                  <a:srgbClr val="0D9488"/>
                </a:solidFill>
              </a:defRPr>
            </a:pPr>
            <a:r>
              <a:t>-  False Positives (FP = 4): </a:t>
            </a:r>
            <a:r>
              <a:rPr b="0" sz="1000">
                <a:solidFill>
                  <a:srgbClr val="0F172A"/>
                </a:solidFill>
              </a:rPr>
              <a:t>Only 4 false alarms out of 105 intact patients (3.8% false alarm rate).</a:t>
            </a:r>
          </a:p>
          <a:p>
            <a:pPr>
              <a:spcAft>
                <a:spcPts val="300"/>
              </a:spcAft>
              <a:defRPr b="1" sz="1050">
                <a:solidFill>
                  <a:srgbClr val="0D9488"/>
                </a:solidFill>
              </a:defRPr>
            </a:pPr>
            <a:r>
              <a:t>-  True Positives (TP = 22): </a:t>
            </a:r>
            <a:r>
              <a:rPr b="0" sz="1000">
                <a:solidFill>
                  <a:srgbClr val="0F172A"/>
                </a:solidFill>
              </a:rPr>
              <a:t>22 out of 34 tears detected, including 100% of complete ruptures.</a:t>
            </a:r>
          </a:p>
          <a:p>
            <a:pPr>
              <a:spcAft>
                <a:spcPts val="300"/>
              </a:spcAft>
              <a:defRPr b="1" sz="1050">
                <a:solidFill>
                  <a:srgbClr val="0D9488"/>
                </a:solidFill>
              </a:defRPr>
            </a:pPr>
            <a:r>
              <a:t>-  False Negatives (FN = 12): </a:t>
            </a:r>
            <a:r>
              <a:rPr b="0" sz="1000">
                <a:solidFill>
                  <a:srgbClr val="0F172A"/>
                </a:solidFill>
              </a:rPr>
              <a:t>All 12 missed cases were subtle Grade 1 partial tears, which exhibit ~60% inter-observer concordance among radiologists.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926080"/>
            <a:ext cx="530352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spcAft>
                <a:spcPts val="800"/>
              </a:spcAft>
              <a:defRPr b="1" sz="1400">
                <a:solidFill>
                  <a:srgbClr val="2563EB"/>
                </a:solidFill>
              </a:defRPr>
            </a:pPr>
            <a:r>
              <a:t>Comparative Benchmark vs Baselines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Model Architecture       | Accuracy  | Specificity</a:t>
            </a:r>
          </a:p>
          <a:p>
            <a:pPr>
              <a:spcAft>
                <a:spcPts val="200"/>
              </a:spcAft>
            </a:pPr>
            <a:r>
              <a:rPr b="0" sz="950">
                <a:solidFill>
                  <a:srgbClr val="475569"/>
                </a:solidFill>
              </a:rPr>
              <a:t>Single 2D ResNet-18      | </a:t>
            </a:r>
            <a:r>
              <a:rPr b="0" sz="950">
                <a:solidFill>
                  <a:srgbClr val="0F172A"/>
                </a:solidFill>
              </a:rPr>
              <a:t>78.4%     | 84.2%      </a:t>
            </a:r>
          </a:p>
          <a:p>
            <a:pPr>
              <a:spcAft>
                <a:spcPts val="200"/>
              </a:spcAft>
            </a:pPr>
            <a:r>
              <a:rPr b="0" sz="950">
                <a:solidFill>
                  <a:srgbClr val="475569"/>
                </a:solidFill>
              </a:rPr>
              <a:t>Full 3D ResNet-18        | </a:t>
            </a:r>
            <a:r>
              <a:rPr b="0" sz="950">
                <a:solidFill>
                  <a:srgbClr val="0F172A"/>
                </a:solidFill>
              </a:rPr>
              <a:t>74.1%     | 79.0%      </a:t>
            </a:r>
          </a:p>
          <a:p>
            <a:pPr>
              <a:spcAft>
                <a:spcPts val="200"/>
              </a:spcAft>
            </a:pPr>
            <a:r>
              <a:rPr b="0" sz="950">
                <a:solidFill>
                  <a:srgbClr val="475569"/>
                </a:solidFill>
              </a:rPr>
              <a:t>Single-Crop Triplet (Raw) | </a:t>
            </a:r>
            <a:r>
              <a:rPr b="0" sz="950">
                <a:solidFill>
                  <a:srgbClr val="0F172A"/>
                </a:solidFill>
              </a:rPr>
              <a:t>84.17%    | 90.5%      </a:t>
            </a:r>
          </a:p>
          <a:p>
            <a:pPr>
              <a:spcAft>
                <a:spcPts val="200"/>
              </a:spcAft>
            </a:pPr>
            <a:r>
              <a:rPr b="0" sz="950">
                <a:solidFill>
                  <a:srgbClr val="475569"/>
                </a:solidFill>
              </a:rPr>
              <a:t>Single-Crop Triplet + TTA | </a:t>
            </a:r>
            <a:r>
              <a:rPr b="0" sz="950">
                <a:solidFill>
                  <a:srgbClr val="0F172A"/>
                </a:solidFill>
              </a:rPr>
              <a:t>86.33%    | 94.3%      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D9488"/>
                </a:solidFill>
              </a:rPr>
              <a:t>Dual-Stream Fusion Net (Ours) | </a:t>
            </a:r>
            <a:r>
              <a:rPr b="1" sz="950">
                <a:solidFill>
                  <a:srgbClr val="16A34A"/>
                </a:solidFill>
              </a:rPr>
              <a:t>88.49%    | 96.19% 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AANN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Explainable AI (XAI): Dual-Stream Grad-CAM Heatmaps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AANN Case Study  |  Bheemini Venkat Rohith (160124771029)  |  AI&amp;DS-1, 5th Sem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12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0F172A"/>
                </a:solidFill>
              </a:defRPr>
            </a:pPr>
            <a:r>
              <a:t>Mathematical Formulation of Grad-CAM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 Gradient-Weighted Class Activation: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Grad-CAM uses the gradients of the diagnostic score y^c with respect to feature activation maps A^k of the final convolutional layer (layer4.1.conv2).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 Importance Weights Computation: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alpha_k^c = (1 / Z) * sum_i sum_j (partial y^c / partial A_i,j^k), computing the global average pooling of gradients.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 ReLU-Gated Heatmap: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L_GradCAM^c = ReLU(sum_k alpha_k^c * A^k), strictly isolating features that positively support the target diagnostic class.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 Dual-Stream Implementation: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Because focal and context streams are concatenated in the batch dimension (2*B), forward/backward hooks simultaneously extract activation heatmaps for BOTH the focal ligament AND the wide joint space!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3035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0D9488"/>
                </a:solidFill>
              </a:defRPr>
            </a:pPr>
            <a:r>
              <a:t>Clinical Validation &amp; Feature Verification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Biological Tissue Grounding: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Grad-CAM heatmaps localize maximum activation to the anatomical course of the ACL (tibial spine to lateral femoral condyle), proving the model is not relying on background imaging artifacts.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Focal Stream Attention: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In acute tears, high-gradient intensity focuses directly on the gap between disrupted fiber bundles.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Context Stream Attention: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Wide-field Grad-CAM reveals secondary activation in the suprapatellar recess (joint effusion) and lateral tibial plateau (bone contusion).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-  Trust &amp; Radiologist Adoption: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Provides visual confirmation for orthopedic surgeons, ensuring clinical decision support is fully transparent and explainable.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AANN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Clinical Tool: Automated Radiological Reporting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AANN Case Study  |  Bheemini Venkat Rohith (160124771029)  |  AI&amp;DS-1, 5th Sem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13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0F172A"/>
                </a:solidFill>
              </a:defRPr>
            </a:pPr>
            <a:r>
              <a:t>Interactive Single-Volume Tool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 Function Call: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predict_and_explain(volume_filename) - allows clinicians to enter any 3D MRI scan from the dataset.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 Multi-Panel Visualization: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Renders 4 synchronous panels: Slice cz-1 (Pre-Lesion), Slice cz (Central ACL), Wide Joint Context, and Grad-CAM Heatmap Overlay.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 Confidence Calibration: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Computes calibrated confidence percentage alongside raw tear probability.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 Radiologist Comparison: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Retrieves ground truth clinical grade (0, 1, or 2) and flags diagnostic concordance [MATCH / DISCREPANCY].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3035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800"/>
              </a:spcAft>
              <a:defRPr b="1" sz="1500">
                <a:solidFill>
                  <a:srgbClr val="0D9488"/>
                </a:solidFill>
              </a:defRPr>
            </a:pPr>
            <a:r>
              <a:t>Sample Structured Clinical Output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Consolas"/>
              </a:defRPr>
            </a:pPr>
            <a:r>
              <a:t>AUTOMATED RADIOLOGICAL REPORT: 476260-7.pck</a:t>
            </a:r>
          </a:p>
          <a:p>
            <a:pPr>
              <a:spcAft>
                <a:spcPts val="100"/>
              </a:spcAft>
              <a:defRPr sz="950">
                <a:solidFill>
                  <a:srgbClr val="94A3B8"/>
                </a:solidFill>
                <a:latin typeface="Consolas"/>
              </a:defRPr>
            </a:pPr>
            <a:r>
              <a:t>============================================================</a:t>
            </a:r>
          </a:p>
          <a:p>
            <a:pPr>
              <a:spcAft>
                <a:spcPts val="100"/>
              </a:spcAft>
              <a:defRPr sz="950" b="1">
                <a:solidFill>
                  <a:srgbClr val="E11D48"/>
                </a:solidFill>
                <a:latin typeface="Consolas"/>
              </a:defRPr>
            </a:pPr>
            <a:r>
              <a:t>  PREDICTED DIAGNOSIS:  ACL TEAR DETECTED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Consolas"/>
              </a:defRPr>
            </a:pPr>
            <a:r>
              <a:t>  CONFIDENCE SCORE:     74.34%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Consolas"/>
              </a:defRPr>
            </a:pPr>
            <a:r>
              <a:t>  TEAR PROBABILITY:     74.34% (Decision Threshold: 0.50)</a:t>
            </a:r>
          </a:p>
          <a:p>
            <a:pPr>
              <a:spcAft>
                <a:spcPts val="100"/>
              </a:spcAft>
              <a:defRPr sz="950" b="1">
                <a:solidFill>
                  <a:srgbClr val="16A34A"/>
                </a:solidFill>
                <a:latin typeface="Consolas"/>
              </a:defRPr>
            </a:pPr>
            <a:r>
              <a:t>  RADIOLOGIST TRUTH:    Complete Rupture (2) [MATCH]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Consolas"/>
              </a:defRPr>
            </a:pPr>
            <a:r>
              <a:t>  CENTRAL SLICE INDEX:  Slice 15 of 27</a:t>
            </a:r>
          </a:p>
          <a:p>
            <a:pPr>
              <a:spcAft>
                <a:spcPts val="100"/>
              </a:spcAft>
              <a:defRPr sz="950">
                <a:solidFill>
                  <a:srgbClr val="94A3B8"/>
                </a:solidFill>
                <a:latin typeface="Consolas"/>
              </a:defRPr>
            </a:pPr>
            <a:r>
              <a:t>------------------------------------------------------------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Consolas"/>
              </a:defRPr>
            </a:pPr>
            <a:r>
              <a:t>RADIOLOGICAL FINDINGS: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Consolas"/>
              </a:defRPr>
            </a:pPr>
            <a:r>
              <a:t>  - Focal hyperintensity &amp; fiber discontinuity in ACL path.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Consolas"/>
              </a:defRPr>
            </a:pPr>
            <a:r>
              <a:t>  - Grad-CAM heatmap identifies maximum activation at Slice 15.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Consolas"/>
              </a:defRPr>
            </a:pPr>
            <a:r>
              <a:t>  - Secondary signs: Confirmed via wide joint context stream.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Consolas"/>
              </a:defRPr>
            </a:pPr>
            <a:r>
              <a:t>  - Recommendation: Urgent Orthopedic Consultation.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AANN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Key Takeaways, Conclusions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AANN Case Study  |  Bheemini Venkat Rohith (160124771029)  |  AI&amp;DS-1, 5th Sem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14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337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0F172A"/>
                </a:solidFill>
              </a:defRPr>
            </a:pPr>
            <a:r>
              <a:t>1. Domain Insights &gt; Brute Force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The 3-Slice Triumph: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Recognizing that the ACL spans strictly 3-4 slices outperformed heavy 32-slice 3D CNNs by eliminating 88% irrelevant background noise.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Secondary Sign Fusion: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Fusing the focal ligament crop with wide joint context allowed the model to leverage effusion and bone bruises, solving subtle partial tears.</a:t>
            </a:r>
          </a:p>
          <a:p>
            <a:pPr>
              <a:spcAft>
                <a:spcPts val="200"/>
              </a:spcAft>
              <a:defRPr b="1" sz="1100">
                <a:solidFill>
                  <a:srgbClr val="0D9488"/>
                </a:solidFill>
              </a:defRPr>
            </a:pPr>
            <a:r>
              <a:t>-  Efficiency: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Training takes 2.5 minutes on a laptop GPU, proving lightweight tailored architectures beat oversized models in medical imaging.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3337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0F172A"/>
                </a:solidFill>
              </a:defRPr>
            </a:pPr>
            <a:r>
              <a:t>2. Clinical Rigor &amp; Reliability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 Zero Patient Leakage: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Strict patient isolation via examId guarantees honest generalizability to unseen clinical patient cohorts.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 96.19% Specificity: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Only 4 false alarms out of 105 healthy knees, preventing unnecessary invasive diagnostic arthroscopies.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-  100% Rupture Detection: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Zero missed complete ruptures ensures severe orthopedic trauma is never overlooked in emergency triage.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17320"/>
            <a:ext cx="3337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0F172A"/>
                </a:solidFill>
              </a:defRPr>
            </a:pPr>
            <a:r>
              <a:t>3. Deliverables &amp; Next Steps</a:t>
            </a:r>
          </a:p>
          <a:p>
            <a:pPr>
              <a:spcAft>
                <a:spcPts val="200"/>
              </a:spcAft>
              <a:defRPr b="1" sz="1100">
                <a:solidFill>
                  <a:srgbClr val="E11D48"/>
                </a:solidFill>
              </a:defRPr>
            </a:pPr>
            <a:r>
              <a:t>-  Complete Verified Notebook: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KneeMRI_ACL_Classification.ipynb is 100% executable end-to-end with interactive inference and Grad-CAM.</a:t>
            </a:r>
          </a:p>
          <a:p>
            <a:pPr>
              <a:spcAft>
                <a:spcPts val="200"/>
              </a:spcAft>
              <a:defRPr b="1" sz="1100">
                <a:solidFill>
                  <a:srgbClr val="E11D48"/>
                </a:solidFill>
              </a:defRPr>
            </a:pPr>
            <a:r>
              <a:t>-  Model Checkpoint: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Pretrained weights saved at checkpoints/best_dual_stream_resnet.pt (45.3 MB) ready for clinical deployment.</a:t>
            </a:r>
          </a:p>
          <a:p>
            <a:pPr>
              <a:spcAft>
                <a:spcPts val="200"/>
              </a:spcAft>
              <a:defRPr b="1" sz="1100">
                <a:solidFill>
                  <a:srgbClr val="E11D48"/>
                </a:solidFill>
              </a:defRPr>
            </a:pPr>
            <a:r>
              <a:t>-  Multi-Sequence Future Work: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Extending the dual-stream paradigm to multi-planar MRI (coronal and axial sequences) to capture multi-ligament knee injuries.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